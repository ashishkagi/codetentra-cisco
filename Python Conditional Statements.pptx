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676275"/>
            <a:ext cx="5429250" cy="5505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676275"/>
            <a:ext cx="5429250" cy="5505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975" y="2676525"/>
            <a:ext cx="7534275" cy="12954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400300" y="2000250"/>
            <a:ext cx="2568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2400300" y="2266950"/>
            <a:ext cx="2568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BEGINNERS</a:t>
            </a:r>
            <a:endParaRPr lang="en-US" sz="800" dirty="0"/>
          </a:p>
        </p:txBody>
      </p:sp>
      <p:sp>
        <p:nvSpPr>
          <p:cNvPr id="10" name="Text 2"/>
          <p:cNvSpPr/>
          <p:nvPr/>
        </p:nvSpPr>
        <p:spPr>
          <a:xfrm>
            <a:off x="2466975" y="2990850"/>
            <a:ext cx="637802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If, Elif, and Else in Python</a:t>
            </a:r>
            <a:endParaRPr lang="en-US" sz="3400" dirty="0"/>
          </a:p>
        </p:txBody>
      </p:sp>
      <p:sp>
        <p:nvSpPr>
          <p:cNvPr id="11" name="Text 3"/>
          <p:cNvSpPr/>
          <p:nvPr/>
        </p:nvSpPr>
        <p:spPr>
          <a:xfrm>
            <a:off x="2400300" y="3867150"/>
            <a:ext cx="7391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Making in Python</a:t>
            </a:r>
            <a:endParaRPr lang="en-US" sz="2100" dirty="0"/>
          </a:p>
        </p:txBody>
      </p:sp>
      <p:sp>
        <p:nvSpPr>
          <p:cNvPr id="12" name="Text 4"/>
          <p:cNvSpPr/>
          <p:nvPr/>
        </p:nvSpPr>
        <p:spPr>
          <a:xfrm>
            <a:off x="2400300" y="4591050"/>
            <a:ext cx="739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Beginner Programmers</a:t>
            </a:r>
            <a:endParaRPr lang="en-US" sz="12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1375" y="2676525"/>
            <a:ext cx="62865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4229100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2428875"/>
            <a:ext cx="571500" cy="609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50" y="3190875"/>
            <a:ext cx="571500" cy="609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50" y="3952875"/>
            <a:ext cx="5715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350" y="4714875"/>
            <a:ext cx="5715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2428875"/>
            <a:ext cx="571500" cy="609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3190875"/>
            <a:ext cx="5715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3952875"/>
            <a:ext cx="57150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4714875"/>
            <a:ext cx="571500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952500"/>
            <a:ext cx="295855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500" dirty="0"/>
          </a:p>
        </p:txBody>
      </p:sp>
      <p:sp>
        <p:nvSpPr>
          <p:cNvPr id="15" name="Text 1"/>
          <p:cNvSpPr/>
          <p:nvPr/>
        </p:nvSpPr>
        <p:spPr>
          <a:xfrm>
            <a:off x="1457325" y="2581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2"/>
          <p:cNvSpPr/>
          <p:nvPr/>
        </p:nvSpPr>
        <p:spPr>
          <a:xfrm>
            <a:off x="1943100" y="2562225"/>
            <a:ext cx="27908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Conditionals</a:t>
            </a:r>
            <a:endParaRPr lang="en-US" sz="1400" dirty="0"/>
          </a:p>
        </p:txBody>
      </p:sp>
      <p:sp>
        <p:nvSpPr>
          <p:cNvPr id="17" name="Text 3"/>
          <p:cNvSpPr/>
          <p:nvPr/>
        </p:nvSpPr>
        <p:spPr>
          <a:xfrm>
            <a:off x="1438275" y="33432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4"/>
          <p:cNvSpPr/>
          <p:nvPr/>
        </p:nvSpPr>
        <p:spPr>
          <a:xfrm>
            <a:off x="1943100" y="3324225"/>
            <a:ext cx="19335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Statement Syntax</a:t>
            </a:r>
            <a:endParaRPr lang="en-US" sz="1400" dirty="0"/>
          </a:p>
        </p:txBody>
      </p:sp>
      <p:sp>
        <p:nvSpPr>
          <p:cNvPr id="19" name="Text 5"/>
          <p:cNvSpPr/>
          <p:nvPr/>
        </p:nvSpPr>
        <p:spPr>
          <a:xfrm>
            <a:off x="1438275" y="41052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6"/>
          <p:cNvSpPr/>
          <p:nvPr/>
        </p:nvSpPr>
        <p:spPr>
          <a:xfrm>
            <a:off x="1943100" y="4086225"/>
            <a:ext cx="1676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 Statement</a:t>
            </a:r>
            <a:endParaRPr lang="en-US" sz="1400" dirty="0"/>
          </a:p>
        </p:txBody>
      </p:sp>
      <p:sp>
        <p:nvSpPr>
          <p:cNvPr id="21" name="Text 7"/>
          <p:cNvSpPr/>
          <p:nvPr/>
        </p:nvSpPr>
        <p:spPr>
          <a:xfrm>
            <a:off x="1428750" y="48672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8"/>
          <p:cNvSpPr/>
          <p:nvPr/>
        </p:nvSpPr>
        <p:spPr>
          <a:xfrm>
            <a:off x="1943100" y="4848225"/>
            <a:ext cx="2057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If-Elif-Else Statement</a:t>
            </a:r>
            <a:endParaRPr lang="en-US" sz="1400" dirty="0"/>
          </a:p>
        </p:txBody>
      </p:sp>
      <p:sp>
        <p:nvSpPr>
          <p:cNvPr id="23" name="Text 9"/>
          <p:cNvSpPr/>
          <p:nvPr/>
        </p:nvSpPr>
        <p:spPr>
          <a:xfrm>
            <a:off x="6581775" y="25812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10"/>
          <p:cNvSpPr/>
          <p:nvPr/>
        </p:nvSpPr>
        <p:spPr>
          <a:xfrm>
            <a:off x="7086600" y="2562225"/>
            <a:ext cx="20097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25" name="Text 11"/>
          <p:cNvSpPr/>
          <p:nvPr/>
        </p:nvSpPr>
        <p:spPr>
          <a:xfrm>
            <a:off x="6577013" y="3343275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12"/>
          <p:cNvSpPr/>
          <p:nvPr/>
        </p:nvSpPr>
        <p:spPr>
          <a:xfrm>
            <a:off x="7086600" y="3324225"/>
            <a:ext cx="24860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Breakdown</a:t>
            </a:r>
            <a:endParaRPr lang="en-US" sz="1400" dirty="0"/>
          </a:p>
        </p:txBody>
      </p:sp>
      <p:sp>
        <p:nvSpPr>
          <p:cNvPr id="27" name="Text 13"/>
          <p:cNvSpPr/>
          <p:nvPr/>
        </p:nvSpPr>
        <p:spPr>
          <a:xfrm>
            <a:off x="6581775" y="410527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8" name="Text 14"/>
          <p:cNvSpPr/>
          <p:nvPr/>
        </p:nvSpPr>
        <p:spPr>
          <a:xfrm>
            <a:off x="7086600" y="4086225"/>
            <a:ext cx="34575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&amp; Best Practices</a:t>
            </a:r>
            <a:endParaRPr lang="en-US" sz="1400" dirty="0"/>
          </a:p>
        </p:txBody>
      </p:sp>
      <p:sp>
        <p:nvSpPr>
          <p:cNvPr id="29" name="Text 15"/>
          <p:cNvSpPr/>
          <p:nvPr/>
        </p:nvSpPr>
        <p:spPr>
          <a:xfrm>
            <a:off x="6577013" y="4867275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16"/>
          <p:cNvSpPr/>
          <p:nvPr/>
        </p:nvSpPr>
        <p:spPr>
          <a:xfrm>
            <a:off x="7086600" y="4848225"/>
            <a:ext cx="2200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Questions</a:t>
            </a:r>
            <a:endParaRPr lang="en-US" sz="1400" dirty="0"/>
          </a:p>
        </p:txBody>
      </p:sp>
      <p:sp>
        <p:nvSpPr>
          <p:cNvPr id="31" name="Text 17"/>
          <p:cNvSpPr/>
          <p:nvPr/>
        </p:nvSpPr>
        <p:spPr>
          <a:xfrm>
            <a:off x="762000" y="63817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32" name="Text 18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7839075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571750"/>
            <a:ext cx="133350" cy="1333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35280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143375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2476500"/>
            <a:ext cx="5048250" cy="18573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38200" y="952500"/>
            <a:ext cx="65704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Conditional Statements?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762000" y="1952625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&amp; Function</a:t>
            </a:r>
            <a:endParaRPr lang="en-US" sz="1700" dirty="0"/>
          </a:p>
        </p:txBody>
      </p:sp>
      <p:sp>
        <p:nvSpPr>
          <p:cNvPr id="12" name="Text 2"/>
          <p:cNvSpPr/>
          <p:nvPr/>
        </p:nvSpPr>
        <p:spPr>
          <a:xfrm>
            <a:off x="1028700" y="2486025"/>
            <a:ext cx="476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allow programs to make decisions based on conditions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1028700" y="3271838"/>
            <a:ext cx="476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control the flow of execution by choosing different paths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1028700" y="4057650"/>
            <a:ext cx="4619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creating intelligent, responsive programs</a:t>
            </a:r>
            <a:endParaRPr lang="en-US" sz="1200" dirty="0"/>
          </a:p>
        </p:txBody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1952625"/>
            <a:ext cx="238125" cy="3048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6772275" y="1952625"/>
            <a:ext cx="2066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</a:t>
            </a:r>
            <a:endParaRPr lang="en-US" sz="1700" dirty="0"/>
          </a:p>
        </p:txBody>
      </p:sp>
      <p:sp>
        <p:nvSpPr>
          <p:cNvPr id="17" name="Text 6"/>
          <p:cNvSpPr/>
          <p:nvPr/>
        </p:nvSpPr>
        <p:spPr>
          <a:xfrm>
            <a:off x="6743700" y="2562225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6877050" y="2562225"/>
            <a:ext cx="40386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programs to respond to different inputs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6743700" y="3031331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9"/>
          <p:cNvSpPr/>
          <p:nvPr/>
        </p:nvSpPr>
        <p:spPr>
          <a:xfrm>
            <a:off x="6877050" y="3031331"/>
            <a:ext cx="29146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code flexible and adaptable</a:t>
            </a:r>
            <a:endParaRPr lang="en-US" sz="1200" dirty="0"/>
          </a:p>
        </p:txBody>
      </p:sp>
      <p:sp>
        <p:nvSpPr>
          <p:cNvPr id="21" name="Text 10"/>
          <p:cNvSpPr/>
          <p:nvPr/>
        </p:nvSpPr>
        <p:spPr>
          <a:xfrm>
            <a:off x="6743700" y="3500438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11"/>
          <p:cNvSpPr/>
          <p:nvPr/>
        </p:nvSpPr>
        <p:spPr>
          <a:xfrm>
            <a:off x="6877050" y="3500438"/>
            <a:ext cx="40386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logical thinking in programming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6743700" y="3969544"/>
            <a:ext cx="571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6877050" y="3969544"/>
            <a:ext cx="37338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almost every real-world application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762000" y="63817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26" name="Text 15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6953250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019300"/>
            <a:ext cx="5429250" cy="10572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562350"/>
            <a:ext cx="5429250" cy="13430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762125"/>
            <a:ext cx="5410200" cy="3009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6134100"/>
            <a:ext cx="11068050" cy="4476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47700" y="762000"/>
            <a:ext cx="587603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Statement - Basic Syntax</a:t>
            </a:r>
            <a:endParaRPr lang="en-US" sz="2500" dirty="0"/>
          </a:p>
        </p:txBody>
      </p:sp>
      <p:sp>
        <p:nvSpPr>
          <p:cNvPr id="10" name="Text 1"/>
          <p:cNvSpPr/>
          <p:nvPr/>
        </p:nvSpPr>
        <p:spPr>
          <a:xfrm>
            <a:off x="571500" y="1685925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Structure:</a:t>
            </a:r>
            <a:endParaRPr lang="en-US" sz="1400" dirty="0"/>
          </a:p>
        </p:txBody>
      </p:sp>
      <p:sp>
        <p:nvSpPr>
          <p:cNvPr id="11" name="Text 2"/>
          <p:cNvSpPr/>
          <p:nvPr/>
        </p:nvSpPr>
        <p:spPr>
          <a:xfrm>
            <a:off x="762000" y="2257425"/>
            <a:ext cx="4953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condition: </a:t>
            </a:r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 block to execute if condition is True</a:t>
            </a:r>
            <a:endParaRPr lang="en-US" sz="1200" dirty="0"/>
          </a:p>
        </p:txBody>
      </p:sp>
      <p:sp>
        <p:nvSpPr>
          <p:cNvPr id="12" name="Text 3"/>
          <p:cNvSpPr/>
          <p:nvPr/>
        </p:nvSpPr>
        <p:spPr>
          <a:xfrm>
            <a:off x="571500" y="3233738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13" name="Text 4"/>
          <p:cNvSpPr/>
          <p:nvPr/>
        </p:nvSpPr>
        <p:spPr>
          <a:xfrm>
            <a:off x="800100" y="3805237"/>
            <a:ext cx="49149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= </a:t>
            </a:r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 &gt;= </a:t>
            </a:r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print(</a:t>
            </a:r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an adult"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6600825" y="2115741"/>
            <a:ext cx="4705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7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2695575"/>
            <a:ext cx="209550" cy="21907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6943725" y="2649141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must evaluate to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endParaRPr lang="en-US" sz="12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1300" y="3190875"/>
            <a:ext cx="209550" cy="21907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6943725" y="3144441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 (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required after the condition</a:t>
            </a:r>
            <a:endParaRPr lang="en-US" sz="12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3686175"/>
            <a:ext cx="209550" cy="219075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943725" y="3639741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block must be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indented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spaces or 1 tab)</a:t>
            </a:r>
            <a:endParaRPr lang="en-US" sz="12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4181475"/>
            <a:ext cx="209550" cy="219075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6943725" y="4135041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condition is True, code block executes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571500" y="63817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24" name="Text 11"/>
          <p:cNvSpPr/>
          <p:nvPr/>
        </p:nvSpPr>
        <p:spPr>
          <a:xfrm>
            <a:off x="11449050" y="63817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8943975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943100"/>
            <a:ext cx="5562600" cy="13906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562350"/>
            <a:ext cx="5486400" cy="495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381500"/>
            <a:ext cx="5562600" cy="1181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050" y="2705100"/>
            <a:ext cx="5543550" cy="17811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450" y="337185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450" y="375285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450" y="413385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6134100"/>
            <a:ext cx="11068050" cy="4476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47700" y="762000"/>
            <a:ext cx="786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If-Else Statement - Two-Way Decision</a:t>
            </a:r>
            <a:endParaRPr lang="en-US" sz="2500" dirty="0"/>
          </a:p>
        </p:txBody>
      </p:sp>
      <p:sp>
        <p:nvSpPr>
          <p:cNvPr id="14" name="Text 1"/>
          <p:cNvSpPr/>
          <p:nvPr/>
        </p:nvSpPr>
        <p:spPr>
          <a:xfrm>
            <a:off x="571500" y="1685925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15" name="Text 2"/>
          <p:cNvSpPr/>
          <p:nvPr/>
        </p:nvSpPr>
        <p:spPr>
          <a:xfrm>
            <a:off x="723900" y="2105025"/>
            <a:ext cx="52006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</a:t>
            </a:r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temperature &gt; </a:t>
            </a:r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print(</a:t>
            </a:r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hot outside"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print(</a:t>
            </a:r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not too hot"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3"/>
          <p:cNvSpPr/>
          <p:nvPr/>
        </p:nvSpPr>
        <p:spPr>
          <a:xfrm>
            <a:off x="571500" y="3343275"/>
            <a:ext cx="546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900" dirty="0"/>
          </a:p>
        </p:txBody>
      </p:sp>
      <p:sp>
        <p:nvSpPr>
          <p:cNvPr id="17" name="Text 4"/>
          <p:cNvSpPr/>
          <p:nvPr/>
        </p:nvSpPr>
        <p:spPr>
          <a:xfrm>
            <a:off x="695325" y="36957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too hot</a:t>
            </a:r>
            <a:endParaRPr lang="en-US" sz="1100" dirty="0"/>
          </a:p>
        </p:txBody>
      </p:sp>
      <p:sp>
        <p:nvSpPr>
          <p:cNvPr id="18" name="Text 5"/>
          <p:cNvSpPr/>
          <p:nvPr/>
        </p:nvSpPr>
        <p:spPr>
          <a:xfrm>
            <a:off x="571500" y="4162425"/>
            <a:ext cx="546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Structure:</a:t>
            </a:r>
            <a:endParaRPr lang="en-US" sz="1100" dirty="0"/>
          </a:p>
        </p:txBody>
      </p:sp>
      <p:sp>
        <p:nvSpPr>
          <p:cNvPr id="19" name="Text 6"/>
          <p:cNvSpPr/>
          <p:nvPr/>
        </p:nvSpPr>
        <p:spPr>
          <a:xfrm>
            <a:off x="685800" y="4543425"/>
            <a:ext cx="5238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condition: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 if 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 if False</a:t>
            </a:r>
            <a:endParaRPr lang="en-US" sz="1100" dirty="0"/>
          </a:p>
        </p:txBody>
      </p:sp>
      <p:sp>
        <p:nvSpPr>
          <p:cNvPr id="20" name="Text 7"/>
          <p:cNvSpPr/>
          <p:nvPr/>
        </p:nvSpPr>
        <p:spPr>
          <a:xfrm>
            <a:off x="6276975" y="2867025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Explanation:</a:t>
            </a:r>
            <a:endParaRPr lang="en-US" sz="1700" dirty="0"/>
          </a:p>
        </p:txBody>
      </p:sp>
      <p:sp>
        <p:nvSpPr>
          <p:cNvPr id="21" name="Text 8"/>
          <p:cNvSpPr/>
          <p:nvPr/>
        </p:nvSpPr>
        <p:spPr>
          <a:xfrm>
            <a:off x="6543675" y="3324225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provides an alternative path when condition is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endParaRPr lang="en-US" sz="1100" dirty="0"/>
          </a:p>
        </p:txBody>
      </p:sp>
      <p:sp>
        <p:nvSpPr>
          <p:cNvPr id="22" name="Text 9"/>
          <p:cNvSpPr/>
          <p:nvPr/>
        </p:nvSpPr>
        <p:spPr>
          <a:xfrm>
            <a:off x="6543675" y="37052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block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execute (either if or else)</a:t>
            </a:r>
            <a:endParaRPr lang="en-US" sz="1100" dirty="0"/>
          </a:p>
        </p:txBody>
      </p:sp>
      <p:sp>
        <p:nvSpPr>
          <p:cNvPr id="23" name="Text 10"/>
          <p:cNvSpPr/>
          <p:nvPr/>
        </p:nvSpPr>
        <p:spPr>
          <a:xfrm>
            <a:off x="6543675" y="4086225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condition needed for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</a:t>
            </a:r>
            <a:endParaRPr lang="en-US" sz="1100" dirty="0"/>
          </a:p>
        </p:txBody>
      </p:sp>
      <p:sp>
        <p:nvSpPr>
          <p:cNvPr id="24" name="Text 11"/>
          <p:cNvSpPr/>
          <p:nvPr/>
        </p:nvSpPr>
        <p:spPr>
          <a:xfrm>
            <a:off x="571500" y="63817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25" name="Text 12"/>
          <p:cNvSpPr/>
          <p:nvPr/>
        </p:nvSpPr>
        <p:spPr>
          <a:xfrm>
            <a:off x="114585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9134475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905000"/>
            <a:ext cx="5600700" cy="1828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114800"/>
            <a:ext cx="95250" cy="95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4381500"/>
            <a:ext cx="95250" cy="95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4648200"/>
            <a:ext cx="95250" cy="95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4914900"/>
            <a:ext cx="95250" cy="95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5525" y="1600200"/>
            <a:ext cx="5524500" cy="36385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8725" y="2600325"/>
            <a:ext cx="381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700000">
            <a:off x="8382000" y="3733800"/>
            <a:ext cx="971550" cy="9810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1175" y="3362325"/>
            <a:ext cx="409575" cy="38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48725" y="3838575"/>
            <a:ext cx="381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700000">
            <a:off x="8382000" y="5924550"/>
            <a:ext cx="971550" cy="933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01175" y="4600575"/>
            <a:ext cx="409575" cy="38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48725" y="5076825"/>
            <a:ext cx="3810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975" y="6381750"/>
            <a:ext cx="11068050" cy="295275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47700" y="762000"/>
            <a:ext cx="80544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If-Elif-Else Statement - Multiple Conditions</a:t>
            </a:r>
            <a:endParaRPr lang="en-US" sz="2500" dirty="0"/>
          </a:p>
        </p:txBody>
      </p:sp>
      <p:sp>
        <p:nvSpPr>
          <p:cNvPr id="20" name="Text 1"/>
          <p:cNvSpPr/>
          <p:nvPr/>
        </p:nvSpPr>
        <p:spPr>
          <a:xfrm>
            <a:off x="571500" y="1609725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Structure:</a:t>
            </a:r>
            <a:endParaRPr lang="en-US" sz="1400" dirty="0"/>
          </a:p>
        </p:txBody>
      </p:sp>
      <p:sp>
        <p:nvSpPr>
          <p:cNvPr id="21" name="Text 2"/>
          <p:cNvSpPr/>
          <p:nvPr/>
        </p:nvSpPr>
        <p:spPr>
          <a:xfrm>
            <a:off x="723900" y="2066925"/>
            <a:ext cx="52387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condition1: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 if condition1 is 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condition2: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 if condition2 is 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 if all conditions are False</a:t>
            </a:r>
            <a:endParaRPr lang="en-US" sz="1100" dirty="0"/>
          </a:p>
        </p:txBody>
      </p:sp>
      <p:sp>
        <p:nvSpPr>
          <p:cNvPr id="22" name="Text 3"/>
          <p:cNvSpPr/>
          <p:nvPr/>
        </p:nvSpPr>
        <p:spPr>
          <a:xfrm>
            <a:off x="571500" y="3743325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Concepts:</a:t>
            </a:r>
            <a:endParaRPr lang="en-US" sz="1400" dirty="0"/>
          </a:p>
        </p:txBody>
      </p:sp>
      <p:sp>
        <p:nvSpPr>
          <p:cNvPr id="23" name="Text 4"/>
          <p:cNvSpPr/>
          <p:nvPr/>
        </p:nvSpPr>
        <p:spPr>
          <a:xfrm>
            <a:off x="762000" y="4048125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"else if" - checks additional conditions</a:t>
            </a:r>
            <a:endParaRPr lang="en-US" sz="1100" dirty="0"/>
          </a:p>
        </p:txBody>
      </p:sp>
      <p:sp>
        <p:nvSpPr>
          <p:cNvPr id="24" name="Text 5"/>
          <p:cNvSpPr/>
          <p:nvPr/>
        </p:nvSpPr>
        <p:spPr>
          <a:xfrm>
            <a:off x="762000" y="4314825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have multiple elif statements</a:t>
            </a:r>
            <a:endParaRPr lang="en-US" sz="1100" dirty="0"/>
          </a:p>
        </p:txBody>
      </p:sp>
      <p:sp>
        <p:nvSpPr>
          <p:cNvPr id="25" name="Text 6"/>
          <p:cNvSpPr/>
          <p:nvPr/>
        </p:nvSpPr>
        <p:spPr>
          <a:xfrm>
            <a:off x="762000" y="4581525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checked in order from top to bottom</a:t>
            </a:r>
            <a:endParaRPr lang="en-US" sz="1100" dirty="0"/>
          </a:p>
        </p:txBody>
      </p:sp>
      <p:sp>
        <p:nvSpPr>
          <p:cNvPr id="26" name="Text 7"/>
          <p:cNvSpPr/>
          <p:nvPr/>
        </p:nvSpPr>
        <p:spPr>
          <a:xfrm>
            <a:off x="762000" y="4848225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True condition executes, rest are skipped</a:t>
            </a:r>
            <a:endParaRPr lang="en-US" sz="1100" dirty="0"/>
          </a:p>
        </p:txBody>
      </p:sp>
      <p:sp>
        <p:nvSpPr>
          <p:cNvPr id="27" name="Text 8"/>
          <p:cNvSpPr/>
          <p:nvPr/>
        </p:nvSpPr>
        <p:spPr>
          <a:xfrm>
            <a:off x="7924800" y="1733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Visualization</a:t>
            </a:r>
            <a:endParaRPr lang="en-US" sz="1100" dirty="0"/>
          </a:p>
        </p:txBody>
      </p:sp>
      <p:pic>
        <p:nvPicPr>
          <p:cNvPr id="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0" y="2219325"/>
            <a:ext cx="781050" cy="40005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8486775" y="222885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800" dirty="0"/>
          </a:p>
        </p:txBody>
      </p:sp>
      <p:sp>
        <p:nvSpPr>
          <p:cNvPr id="30" name="Text 10"/>
          <p:cNvSpPr/>
          <p:nvPr/>
        </p:nvSpPr>
        <p:spPr>
          <a:xfrm>
            <a:off x="8534400" y="4133850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1</a:t>
            </a:r>
            <a:endParaRPr lang="en-US" sz="800" dirty="0"/>
          </a:p>
        </p:txBody>
      </p:sp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06050" y="3133725"/>
            <a:ext cx="1162050" cy="495300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10315575" y="31432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highlight>
                  <a:srgbClr val="FFD43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Execute Block 1</a:t>
            </a:r>
            <a:endParaRPr lang="en-US" sz="800" dirty="0"/>
          </a:p>
        </p:txBody>
      </p:sp>
      <p:sp>
        <p:nvSpPr>
          <p:cNvPr id="33" name="Text 12"/>
          <p:cNvSpPr/>
          <p:nvPr/>
        </p:nvSpPr>
        <p:spPr>
          <a:xfrm>
            <a:off x="8524875" y="632460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2</a:t>
            </a:r>
            <a:endParaRPr lang="en-US" sz="800" dirty="0"/>
          </a:p>
        </p:txBody>
      </p:sp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06050" y="4371975"/>
            <a:ext cx="1162050" cy="49530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10315575" y="438150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highlight>
                  <a:srgbClr val="FFD43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Execute Block 2</a:t>
            </a:r>
            <a:endParaRPr lang="en-US" sz="800" dirty="0"/>
          </a:p>
        </p:txBody>
      </p:sp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0" y="5362575"/>
            <a:ext cx="1162050" cy="495300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8296275" y="537210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highlight>
                  <a:srgbClr val="FFD43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Execute Else Block</a:t>
            </a:r>
            <a:endParaRPr lang="en-US" sz="800" dirty="0"/>
          </a:p>
        </p:txBody>
      </p:sp>
      <p:sp>
        <p:nvSpPr>
          <p:cNvPr id="38" name="Text 15"/>
          <p:cNvSpPr/>
          <p:nvPr/>
        </p:nvSpPr>
        <p:spPr>
          <a:xfrm>
            <a:off x="10296674" y="5000625"/>
            <a:ext cx="11619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All paths lead to END</a:t>
            </a:r>
            <a:endParaRPr lang="en-US" sz="700" dirty="0"/>
          </a:p>
        </p:txBody>
      </p:sp>
      <p:sp>
        <p:nvSpPr>
          <p:cNvPr id="39" name="Text 16"/>
          <p:cNvSpPr/>
          <p:nvPr/>
        </p:nvSpPr>
        <p:spPr>
          <a:xfrm>
            <a:off x="571500" y="647700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11449050" y="647700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8953500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1905000"/>
            <a:ext cx="6724650" cy="39909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25" y="2343150"/>
            <a:ext cx="4543425" cy="9429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225" y="3352800"/>
            <a:ext cx="4543425" cy="9429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225" y="4362450"/>
            <a:ext cx="4543425" cy="9429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6134100"/>
            <a:ext cx="11068050" cy="4476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47700" y="762000"/>
            <a:ext cx="78753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Positive, Negative, or Zero?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571500" y="1609725"/>
            <a:ext cx="631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Program:</a:t>
            </a:r>
            <a:endParaRPr lang="en-US" sz="1400" dirty="0"/>
          </a:p>
        </p:txBody>
      </p:sp>
      <p:sp>
        <p:nvSpPr>
          <p:cNvPr id="12" name="Text 2"/>
          <p:cNvSpPr/>
          <p:nvPr/>
        </p:nvSpPr>
        <p:spPr>
          <a:xfrm>
            <a:off x="952500" y="2409825"/>
            <a:ext cx="5632400" cy="278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Program to check if number is positive, negative, or zero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= </a:t>
            </a:r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"Enter a number: 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))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&gt; </a:t>
            </a:r>
            <a:pPr indent="0" marL="0">
              <a:buNone/>
            </a:pPr>
            <a:r>
              <a:rPr lang="en-US" sz="14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number is positive"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&lt; </a:t>
            </a:r>
            <a:pPr indent="0" marL="0">
              <a:buNone/>
            </a:pPr>
            <a:r>
              <a:rPr lang="en-US" sz="14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number is negative"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number is zero"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3"/>
          <p:cNvSpPr/>
          <p:nvPr/>
        </p:nvSpPr>
        <p:spPr>
          <a:xfrm>
            <a:off x="7194500" y="1907381"/>
            <a:ext cx="442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Outputs: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7356425" y="2564606"/>
            <a:ext cx="410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7356425" y="2793206"/>
            <a:ext cx="410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5 → Output: The number is positive</a:t>
            </a:r>
            <a:endParaRPr lang="en-US" sz="1100" dirty="0"/>
          </a:p>
        </p:txBody>
      </p:sp>
      <p:sp>
        <p:nvSpPr>
          <p:cNvPr id="16" name="Text 6"/>
          <p:cNvSpPr/>
          <p:nvPr/>
        </p:nvSpPr>
        <p:spPr>
          <a:xfrm>
            <a:off x="7356425" y="3574256"/>
            <a:ext cx="410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2:</a:t>
            </a:r>
            <a:endParaRPr lang="en-US" sz="900" dirty="0"/>
          </a:p>
        </p:txBody>
      </p:sp>
      <p:sp>
        <p:nvSpPr>
          <p:cNvPr id="17" name="Text 7"/>
          <p:cNvSpPr/>
          <p:nvPr/>
        </p:nvSpPr>
        <p:spPr>
          <a:xfrm>
            <a:off x="7356425" y="3802856"/>
            <a:ext cx="410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-3 → Output: The number is negative</a:t>
            </a:r>
            <a:endParaRPr lang="en-US" sz="1100" dirty="0"/>
          </a:p>
        </p:txBody>
      </p:sp>
      <p:sp>
        <p:nvSpPr>
          <p:cNvPr id="18" name="Text 8"/>
          <p:cNvSpPr/>
          <p:nvPr/>
        </p:nvSpPr>
        <p:spPr>
          <a:xfrm>
            <a:off x="7356425" y="4583906"/>
            <a:ext cx="410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3:</a:t>
            </a:r>
            <a:endParaRPr lang="en-US" sz="900" dirty="0"/>
          </a:p>
        </p:txBody>
      </p:sp>
      <p:sp>
        <p:nvSpPr>
          <p:cNvPr id="19" name="Text 9"/>
          <p:cNvSpPr/>
          <p:nvPr/>
        </p:nvSpPr>
        <p:spPr>
          <a:xfrm>
            <a:off x="7356425" y="4812506"/>
            <a:ext cx="410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0 → Output: The number is zero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571500" y="63817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21" name="Text 11"/>
          <p:cNvSpPr/>
          <p:nvPr/>
        </p:nvSpPr>
        <p:spPr>
          <a:xfrm>
            <a:off x="114585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6467475" cy="10763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943475"/>
            <a:ext cx="11125200" cy="10382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181600"/>
            <a:ext cx="552450" cy="552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6229350"/>
            <a:ext cx="11068050" cy="3714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47700" y="723900"/>
            <a:ext cx="5386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Down the Example</a:t>
            </a:r>
            <a:endParaRPr lang="en-US" sz="2500" dirty="0"/>
          </a:p>
        </p:txBody>
      </p:sp>
      <p:sp>
        <p:nvSpPr>
          <p:cNvPr id="9" name="Text 1"/>
          <p:cNvSpPr/>
          <p:nvPr/>
        </p:nvSpPr>
        <p:spPr>
          <a:xfrm>
            <a:off x="876300" y="155257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Line-by-Line Analysis:</a:t>
            </a:r>
            <a:endParaRPr lang="en-US" sz="1400" dirty="0"/>
          </a:p>
        </p:txBody>
      </p:sp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1562100"/>
            <a:ext cx="209550" cy="20955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1943100"/>
            <a:ext cx="323850" cy="32385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571500" y="195262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30699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3"/>
          <p:cNvSpPr/>
          <p:nvPr/>
        </p:nvSpPr>
        <p:spPr>
          <a:xfrm>
            <a:off x="1028700" y="1990725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1: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Comment explaining program purpose</a:t>
            </a:r>
            <a:endParaRPr lang="en-US" sz="11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2362200"/>
            <a:ext cx="323850" cy="32385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571500" y="237172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30699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5"/>
          <p:cNvSpPr/>
          <p:nvPr/>
        </p:nvSpPr>
        <p:spPr>
          <a:xfrm>
            <a:off x="1028700" y="2409825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2: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user input and convert to integer</a:t>
            </a:r>
            <a:endParaRPr lang="en-US" sz="11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2781300"/>
            <a:ext cx="323850" cy="32385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571500" y="279082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30699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7"/>
          <p:cNvSpPr/>
          <p:nvPr/>
        </p:nvSpPr>
        <p:spPr>
          <a:xfrm>
            <a:off x="1028700" y="2828925"/>
            <a:ext cx="396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4-5: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if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&gt; 0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(positive condition)</a:t>
            </a:r>
            <a:endParaRPr lang="en-US" sz="1100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7775" y="3124200"/>
            <a:ext cx="133350" cy="15240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1447800" y="310515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True: Print "positive" and skip remaining conditions</a:t>
            </a:r>
            <a:endParaRPr lang="en-US" sz="900" dirty="0"/>
          </a:p>
        </p:txBody>
      </p:sp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3400425"/>
            <a:ext cx="323850" cy="32385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571500" y="34099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30699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10"/>
          <p:cNvSpPr/>
          <p:nvPr/>
        </p:nvSpPr>
        <p:spPr>
          <a:xfrm>
            <a:off x="1028700" y="3448050"/>
            <a:ext cx="40101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6-7: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if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&lt; 0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(negative condition)</a:t>
            </a:r>
            <a:endParaRPr lang="en-US" sz="1100" dirty="0"/>
          </a:p>
        </p:txBody>
      </p:sp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775" y="3743325"/>
            <a:ext cx="133350" cy="1524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1447800" y="3724275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checked if first condition was False</a:t>
            </a:r>
            <a:endParaRPr lang="en-US" sz="9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7775" y="3971925"/>
            <a:ext cx="133350" cy="15240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1447800" y="395287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True: Print "negative" and skip else</a:t>
            </a:r>
            <a:endParaRPr lang="en-US" sz="900" dirty="0"/>
          </a:p>
        </p:txBody>
      </p:sp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4248150"/>
            <a:ext cx="323850" cy="32385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571500" y="425767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30699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14"/>
          <p:cNvSpPr/>
          <p:nvPr/>
        </p:nvSpPr>
        <p:spPr>
          <a:xfrm>
            <a:off x="1028700" y="4295775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8-9: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Else block (zero condition)</a:t>
            </a:r>
            <a:endParaRPr lang="en-US" sz="110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7775" y="4581525"/>
            <a:ext cx="133350" cy="1524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1447800" y="4562475"/>
            <a:ext cx="348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only if both previous conditions were False</a:t>
            </a:r>
            <a:endParaRPr lang="en-US" sz="90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7775" y="4810125"/>
            <a:ext cx="133350" cy="15240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1447800" y="47910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must be zero if not positive or negative</a:t>
            </a:r>
            <a:endParaRPr lang="en-US" sz="900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" y="5334000"/>
            <a:ext cx="190500" cy="24765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1543050" y="51911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1543050" y="54578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block executes per run</a:t>
            </a:r>
            <a:endParaRPr lang="en-US" sz="1400" dirty="0"/>
          </a:p>
        </p:txBody>
      </p:sp>
      <p:sp>
        <p:nvSpPr>
          <p:cNvPr id="39" name="Text 19"/>
          <p:cNvSpPr/>
          <p:nvPr/>
        </p:nvSpPr>
        <p:spPr>
          <a:xfrm>
            <a:off x="571500" y="640080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11449050" y="640080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4286250" cy="1152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524125"/>
            <a:ext cx="5124450" cy="3276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2524125"/>
            <a:ext cx="5124450" cy="3276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38200" y="952500"/>
            <a:ext cx="3013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for Success</a:t>
            </a:r>
            <a:endParaRPr lang="en-US" sz="2500" dirty="0"/>
          </a:p>
        </p:txBody>
      </p:sp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000250"/>
            <a:ext cx="304800" cy="31432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1200150" y="2006203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1700" dirty="0"/>
          </a:p>
        </p:txBody>
      </p:sp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2924175"/>
            <a:ext cx="142875" cy="20002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381125" y="2882503"/>
            <a:ext cx="4143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Indentation Errors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Forgetting to indent code blocks</a:t>
            </a:r>
            <a:endParaRPr lang="en-US" sz="1200" dirty="0"/>
          </a:p>
        </p:txBody>
      </p:sp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3676650"/>
            <a:ext cx="142875" cy="200025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381125" y="3630216"/>
            <a:ext cx="39147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Colon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Forgetting : after if, elif, or else</a:t>
            </a:r>
            <a:endParaRPr lang="en-US" sz="1200" dirty="0"/>
          </a:p>
        </p:txBody>
      </p:sp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375" y="4143375"/>
            <a:ext cx="142875" cy="200025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1381125" y="4099322"/>
            <a:ext cx="4143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Condition Order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Placing broader conditions before specific ones</a:t>
            </a:r>
            <a:endParaRPr lang="en-US" sz="1200" dirty="0"/>
          </a:p>
        </p:txBody>
      </p:sp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375" y="4886325"/>
            <a:ext cx="142875" cy="200025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381125" y="4847034"/>
            <a:ext cx="32004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= instead of ==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comparison</a:t>
            </a:r>
            <a:endParaRPr lang="en-US" sz="12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5075" y="2000250"/>
            <a:ext cx="304800" cy="314325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762750" y="2006203"/>
            <a:ext cx="1695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7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7975" y="2924175"/>
            <a:ext cx="171450" cy="200025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6972300" y="2882503"/>
            <a:ext cx="41148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consistent indentation (4 spaces recommended)</a:t>
            </a:r>
            <a:endParaRPr lang="en-US" sz="1200" dirty="0"/>
          </a:p>
        </p:txBody>
      </p:sp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7975" y="3638550"/>
            <a:ext cx="171450" cy="20002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6972300" y="3592116"/>
            <a:ext cx="32099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conditions simple and readable</a:t>
            </a:r>
            <a:endParaRPr lang="en-US" sz="1200" dirty="0"/>
          </a:p>
        </p:txBody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7975" y="4067175"/>
            <a:ext cx="171450" cy="200025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6972300" y="4023122"/>
            <a:ext cx="41148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deeply nested if statements (max 2-3 levels)</a:t>
            </a:r>
            <a:endParaRPr lang="en-US" sz="1200" dirty="0"/>
          </a:p>
        </p:txBody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7975" y="4772025"/>
            <a:ext cx="171450" cy="20002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6972300" y="4732734"/>
            <a:ext cx="27432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variable names</a:t>
            </a:r>
            <a:endParaRPr lang="en-US" sz="1200" dirty="0"/>
          </a:p>
        </p:txBody>
      </p:sp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57975" y="5210175"/>
            <a:ext cx="171450" cy="200025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6972300" y="5163741"/>
            <a:ext cx="34575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all possible paths in your conditions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762000" y="6381750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for Beginners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6219825"/>
            <a:ext cx="1924050" cy="76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2047875"/>
            <a:ext cx="104775" cy="95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7675" y="2466975"/>
            <a:ext cx="104775" cy="95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2886075"/>
            <a:ext cx="95250" cy="95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0925" y="3305175"/>
            <a:ext cx="95250" cy="95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3595688" y="1314450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100" dirty="0"/>
          </a:p>
        </p:txBody>
      </p:sp>
      <p:sp>
        <p:nvSpPr>
          <p:cNvPr id="11" name="Text 1"/>
          <p:cNvSpPr/>
          <p:nvPr/>
        </p:nvSpPr>
        <p:spPr>
          <a:xfrm>
            <a:off x="3786188" y="1981200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statements make decisions based on conditions</a:t>
            </a:r>
            <a:endParaRPr lang="en-US" sz="1400" dirty="0"/>
          </a:p>
        </p:txBody>
      </p:sp>
      <p:sp>
        <p:nvSpPr>
          <p:cNvPr id="12" name="Text 2"/>
          <p:cNvSpPr/>
          <p:nvPr/>
        </p:nvSpPr>
        <p:spPr>
          <a:xfrm>
            <a:off x="4462463" y="240030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 allows multiple condition checks</a:t>
            </a:r>
            <a:endParaRPr lang="en-US" sz="1400" dirty="0"/>
          </a:p>
        </p:txBody>
      </p:sp>
      <p:sp>
        <p:nvSpPr>
          <p:cNvPr id="13" name="Text 3"/>
          <p:cNvSpPr/>
          <p:nvPr/>
        </p:nvSpPr>
        <p:spPr>
          <a:xfrm>
            <a:off x="4867275" y="28194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provides a default path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3790950" y="32385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syntax: colon and indentation are essential</a:t>
            </a:r>
            <a:endParaRPr lang="en-US" sz="1400" dirty="0"/>
          </a:p>
        </p:txBody>
      </p:sp>
      <p:sp>
        <p:nvSpPr>
          <p:cNvPr id="15" name="Text 5"/>
          <p:cNvSpPr/>
          <p:nvPr/>
        </p:nvSpPr>
        <p:spPr>
          <a:xfrm>
            <a:off x="3357563" y="3943350"/>
            <a:ext cx="5476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800" dirty="0"/>
          </a:p>
        </p:txBody>
      </p:sp>
      <p:sp>
        <p:nvSpPr>
          <p:cNvPr id="16" name="Text 6"/>
          <p:cNvSpPr/>
          <p:nvPr/>
        </p:nvSpPr>
        <p:spPr>
          <a:xfrm>
            <a:off x="4348163" y="5238750"/>
            <a:ext cx="3495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learning Python!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2026-05-10T14:10:36Z</dcterms:created>
  <dcterms:modified xsi:type="dcterms:W3CDTF">2026-05-10T14:10:36Z</dcterms:modified>
</cp:coreProperties>
</file>